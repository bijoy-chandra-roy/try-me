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Introduce the team and the product name</a:t>
            </a:r>
          </a:p>
          <a:p>
            <a:r>
              <a:t>• TryMe closes the online-retail visualization gap with AI virtual try-on</a:t>
            </a:r>
          </a:p>
          <a:p>
            <a:r>
              <a:t>• Three parts: product value → modeling → architecture/resilience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Online shoppers cannot mentally map flat product photos to their body</a:t>
            </a:r>
          </a:p>
          <a:p>
            <a:r>
              <a:t>• Returns create shipping, restocking, and markdown costs</a:t>
            </a:r>
          </a:p>
          <a:p>
            <a:r>
              <a:t>• Friction at the confidence step kills conversion before checkout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Guest can try on without signing up, capped at 3/hour</a:t>
            </a:r>
          </a:p>
          <a:p>
            <a:r>
              <a:t>• Authenticated customers get history, cart, checkout</a:t>
            </a:r>
          </a:p>
          <a:p>
            <a:r>
              <a:t>• Output is a composite preview: person + selected garment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Spiral chosen because VTO API risk was unknown</a:t>
            </a:r>
          </a:p>
          <a:p>
            <a:r>
              <a:t>• Each spiral ends with a working, deployable increment</a:t>
            </a:r>
          </a:p>
          <a:p>
            <a:r>
              <a:t>• Spiral 1: VTO downtime → Circuit Breaker + fallback first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Primary actors are six human roles; ImgBB, VTO, MongoDB, Google are secondary</a:t>
            </a:r>
          </a:p>
          <a:p>
            <a:r>
              <a:t>• Guest is anonymous (browse + rate-limited try-on)</a:t>
            </a:r>
          </a:p>
          <a:p>
            <a:r>
              <a:t>• Super Admin uniquely assumes roles via UC21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Swimlanes: User, Frontend, Middleware, API, Services, External</a:t>
            </a:r>
          </a:p>
          <a:p>
            <a:r>
              <a:t>• Try-on fans out to ImgBB, VTO SSE, and optional MongoDB history</a:t>
            </a:r>
          </a:p>
          <a:p>
            <a:r>
              <a:t>• Circuit breaker guarantees a preview when VTO fails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Physical collections map 1:1 to Mongoose models</a:t>
            </a:r>
          </a:p>
          <a:p>
            <a:r>
              <a:t>• TryOnHistory records fromFallback for resilience path</a:t>
            </a:r>
          </a:p>
          <a:p>
            <a:r>
              <a:t>• SystemConfig singleton controls guest limit and maintenance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One Next.js app owns UI, middleware, and API route handlers</a:t>
            </a:r>
          </a:p>
          <a:p>
            <a:r>
              <a:t>• Business logic in services; repositories isolate MongoDB</a:t>
            </a:r>
          </a:p>
          <a:p>
            <a:r>
              <a:t>• External AI and image hosts behind clients + circuit breaker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Free-tier Hugging Face Spaces are slow and can fail mid-SSE</a:t>
            </a:r>
          </a:p>
          <a:p>
            <a:r>
              <a:t>• Timeout via VTO_TIMEOUT_MS; default 300000 ms (5 minutes)</a:t>
            </a:r>
          </a:p>
          <a:p>
            <a:r>
              <a:t>• UI shows Live vs Fallback badge — demos always produce a result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VTO runs on shared Hugging Face infrastructure</a:t>
            </a:r>
          </a:p>
          <a:p>
            <a:r>
              <a:t>• ImgBB free host: weak availability and retention for PII imagery</a:t>
            </a:r>
          </a:p>
          <a:p>
            <a:r>
              <a:t>• Production needs private storage, contracted AI hosts, consent policy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Frame as productionization of a validated Spiral-4 prototype</a:t>
            </a:r>
          </a:p>
          <a:p>
            <a:r>
              <a:t>• Layered architecture keeps storage and AI hosts swappable</a:t>
            </a:r>
          </a:p>
          <a:p>
            <a:r>
              <a:t>• Circuit breaker remains valuable after self-hosting</a:t>
            </a:r>
          </a:p>
          <a:p>
            <a:r>
              <a:t>• How: repo adapters + RLS; containerized VTON API; Stripe behind payment interface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A1A1A"/>
                </a:solidFill>
                <a:latin typeface="Calibri"/>
              </a:rPr>
              <a:t>TryMe: Enterprise Virtual Try-On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C5C5C"/>
                </a:solidFill>
                <a:latin typeface="Calibri"/>
              </a:rPr>
              <a:t>Team Defense — Sonargaon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690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6B3F"/>
                </a:solidFill>
                <a:latin typeface="Calibri"/>
              </a:rPr>
              <a:t>Part 1 · Product &amp; Business Value  ·  Speaker: Sadman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Calibri"/>
              </a:rPr>
              <a:t>Speaker: Sadman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The Market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212080" cy="2743200"/>
          </a:xfrm>
          <a:prstGeom prst="roundRect">
            <a:avLst/>
          </a:prstGeom>
          <a:solidFill>
            <a:srgbClr val="F7F5F0"/>
          </a:solidFill>
          <a:ln w="12700">
            <a:solidFill>
              <a:srgbClr val="E0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09360" y="1234440"/>
            <a:ext cx="5212080" cy="2743200"/>
          </a:xfrm>
          <a:prstGeom prst="roundRect">
            <a:avLst/>
          </a:prstGeom>
          <a:solidFill>
            <a:srgbClr val="F7F5F0"/>
          </a:solidFill>
          <a:ln w="12700">
            <a:solidFill>
              <a:srgbClr val="E0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A6B3F"/>
                </a:solidFill>
                <a:latin typeface="Calibri"/>
              </a:rPr>
              <a:t>Uncertain 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C5C5C"/>
                </a:solidFill>
                <a:latin typeface="Calibri"/>
              </a:rPr>
              <a:t>Shoppers cannot map flat product photos to their own body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10312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A6B3F"/>
                </a:solidFill>
                <a:latin typeface="Calibri"/>
              </a:rPr>
              <a:t>High Return Rates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69748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C5C5C"/>
                </a:solidFill>
                <a:latin typeface="Calibri"/>
              </a:rPr>
              <a:t>Reverse logistics inflate cost and erode margin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Visualization gap in online retail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High reverse-logistics costs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Conversion friction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510528"/>
            <a:ext cx="11155680" cy="15875"/>
          </a:xfrm>
          <a:prstGeom prst="rect">
            <a:avLst/>
          </a:prstGeom>
          <a:solidFill>
            <a:srgbClr val="E0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6539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TryMe — Sonargaon University Team Defense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Calibri"/>
              </a:rPr>
              <a:t>Speaker: Sadman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The TryMe Solution &amp; User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2194560" cy="123444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User Reference</a:t>
            </a:r>
          </a:p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Photo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2194560"/>
            <a:ext cx="2194560" cy="123444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Garment</a:t>
            </a:r>
          </a:p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Image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2194560"/>
            <a:ext cx="2194560" cy="123444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TryMe</a:t>
            </a:r>
          </a:p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Engine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2194560"/>
            <a:ext cx="2194560" cy="123444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Virtual</a:t>
            </a:r>
          </a:p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Preview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880360" y="2651760"/>
            <a:ext cx="411480" cy="256032"/>
          </a:xfrm>
          <a:prstGeom prst="rightArrow">
            <a:avLst/>
          </a:prstGeom>
          <a:solidFill>
            <a:srgbClr val="5A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18288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5A6B3F"/>
                </a:solidFill>
                <a:latin typeface="Calibri"/>
              </a:rPr>
              <a:t>+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532120" y="2651760"/>
            <a:ext cx="411480" cy="256032"/>
          </a:xfrm>
          <a:prstGeom prst="rightArrow">
            <a:avLst/>
          </a:prstGeom>
          <a:solidFill>
            <a:srgbClr val="5A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8321040" y="2651760"/>
            <a:ext cx="411480" cy="256032"/>
          </a:xfrm>
          <a:prstGeom prst="rightArrow">
            <a:avLst/>
          </a:prstGeom>
          <a:solidFill>
            <a:srgbClr val="5A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11480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Frictionless guest experience (Rate-limited: 3/hr)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Seamless conversion to authenticated customer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510528"/>
            <a:ext cx="11155680" cy="15875"/>
          </a:xfrm>
          <a:prstGeom prst="rect">
            <a:avLst/>
          </a:prstGeom>
          <a:solidFill>
            <a:srgbClr val="E0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56539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TryMe — Sonargaon University Team Defense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Calibri"/>
              </a:rPr>
              <a:t>Speaker: Yuvraj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Software Development Life Cycle (SDLC)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Evolutionary Prototyping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Risk-driven methodology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Spirals: 1. Prototype, 2. Auth/RBAC, 3. Commerce, 4. Polish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468880" cy="640080"/>
          </a:xfrm>
          <a:prstGeom prst="roundRect">
            <a:avLst/>
          </a:prstGeom>
          <a:solidFill>
            <a:srgbClr val="5A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1. Objectives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54680" y="2560320"/>
            <a:ext cx="411480" cy="256032"/>
          </a:xfrm>
          <a:prstGeom prst="rightArrow">
            <a:avLst/>
          </a:prstGeom>
          <a:solidFill>
            <a:srgbClr val="5A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74720" y="2377440"/>
            <a:ext cx="2468880" cy="640080"/>
          </a:xfrm>
          <a:prstGeom prst="roundRect">
            <a:avLst/>
          </a:prstGeom>
          <a:solidFill>
            <a:srgbClr val="5A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2. Risks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89320" y="2560320"/>
            <a:ext cx="411480" cy="256032"/>
          </a:xfrm>
          <a:prstGeom prst="rightArrow">
            <a:avLst/>
          </a:prstGeom>
          <a:solidFill>
            <a:srgbClr val="5A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60" y="2377440"/>
            <a:ext cx="2468880" cy="640080"/>
          </a:xfrm>
          <a:prstGeom prst="roundRect">
            <a:avLst/>
          </a:prstGeom>
          <a:solidFill>
            <a:srgbClr val="5A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3. Develop &amp; Test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23960" y="2560320"/>
            <a:ext cx="411480" cy="256032"/>
          </a:xfrm>
          <a:prstGeom prst="rightArrow">
            <a:avLst/>
          </a:prstGeom>
          <a:solidFill>
            <a:srgbClr val="5A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0" y="2377440"/>
            <a:ext cx="2468880" cy="640080"/>
          </a:xfrm>
          <a:prstGeom prst="roundRect">
            <a:avLst/>
          </a:prstGeom>
          <a:solidFill>
            <a:srgbClr val="5A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4. Review &amp;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00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Each spiral cycle (then advances to the next)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57600"/>
            <a:ext cx="2606040" cy="2194560"/>
          </a:xfrm>
          <a:prstGeom prst="roundRect">
            <a:avLst/>
          </a:prstGeom>
          <a:solidFill>
            <a:srgbClr val="F7F5F0"/>
          </a:solidFill>
          <a:ln w="12700">
            <a:solidFill>
              <a:srgbClr val="E0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886200"/>
            <a:ext cx="2423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Spiral 1</a:t>
            </a:r>
          </a:p>
          <a:p>
            <a:r>
              <a:t>Prototype</a:t>
            </a:r>
          </a:p>
          <a:p>
            <a:r>
              <a:t>VTO + Circuit Breaker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273552" y="4572000"/>
            <a:ext cx="411480" cy="256032"/>
          </a:xfrm>
          <a:prstGeom prst="rightArrow">
            <a:avLst/>
          </a:prstGeom>
          <a:solidFill>
            <a:srgbClr val="5A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74720" y="3657600"/>
            <a:ext cx="2606040" cy="2194560"/>
          </a:xfrm>
          <a:prstGeom prst="roundRect">
            <a:avLst/>
          </a:prstGeom>
          <a:solidFill>
            <a:srgbClr val="F7F5F0"/>
          </a:solidFill>
          <a:ln w="12700">
            <a:solidFill>
              <a:srgbClr val="E0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3886200"/>
            <a:ext cx="2423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Spiral 2</a:t>
            </a:r>
          </a:p>
          <a:p>
            <a:r>
              <a:t>Auth / RBAC</a:t>
            </a:r>
          </a:p>
          <a:p>
            <a:r>
              <a:t>6 actors + dashboards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108192" y="4572000"/>
            <a:ext cx="411480" cy="256032"/>
          </a:xfrm>
          <a:prstGeom prst="rightArrow">
            <a:avLst/>
          </a:prstGeom>
          <a:solidFill>
            <a:srgbClr val="5A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09360" y="3657600"/>
            <a:ext cx="2606040" cy="2194560"/>
          </a:xfrm>
          <a:prstGeom prst="roundRect">
            <a:avLst/>
          </a:prstGeom>
          <a:solidFill>
            <a:srgbClr val="F7F5F0"/>
          </a:solidFill>
          <a:ln w="12700">
            <a:solidFill>
              <a:srgbClr val="E0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886200"/>
            <a:ext cx="2423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Spiral 3</a:t>
            </a:r>
          </a:p>
          <a:p>
            <a:r>
              <a:t>Commerce</a:t>
            </a:r>
          </a:p>
          <a:p>
            <a:r>
              <a:t>Cart, COD, orders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942832" y="4572000"/>
            <a:ext cx="411480" cy="256032"/>
          </a:xfrm>
          <a:prstGeom prst="rightArrow">
            <a:avLst/>
          </a:prstGeom>
          <a:solidFill>
            <a:srgbClr val="5A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44000" y="3657600"/>
            <a:ext cx="2606040" cy="2194560"/>
          </a:xfrm>
          <a:prstGeom prst="roundRect">
            <a:avLst/>
          </a:prstGeom>
          <a:solidFill>
            <a:srgbClr val="F7F5F0"/>
          </a:solidFill>
          <a:ln w="12700">
            <a:solidFill>
              <a:srgbClr val="E0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3886200"/>
            <a:ext cx="2423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Spiral 4</a:t>
            </a:r>
          </a:p>
          <a:p>
            <a:r>
              <a:t>Polish</a:t>
            </a:r>
          </a:p>
          <a:p>
            <a:r>
              <a:t>Design, i18n, Vercel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510528"/>
            <a:ext cx="11155680" cy="15875"/>
          </a:xfrm>
          <a:prstGeom prst="rect">
            <a:avLst/>
          </a:prstGeom>
          <a:solidFill>
            <a:srgbClr val="E0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56539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TryMe — Sonargaon University Team Defense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Calibri"/>
              </a:rPr>
              <a:t>Speaker: Yuvraj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Behavioral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System boundaries defined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6 Distinct Actors: Guest, Customer, Merchant, Support, Admin, Super Admin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1783080" cy="502920"/>
          </a:xfrm>
          <a:prstGeom prst="roundRect">
            <a:avLst/>
          </a:prstGeom>
          <a:solidFill>
            <a:srgbClr val="5A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Guest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1691640"/>
            <a:ext cx="1783080" cy="502920"/>
          </a:xfrm>
          <a:prstGeom prst="roundRect">
            <a:avLst/>
          </a:prstGeom>
          <a:solidFill>
            <a:srgbClr val="5A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Customer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91640"/>
            <a:ext cx="1783080" cy="502920"/>
          </a:xfrm>
          <a:prstGeom prst="roundRect">
            <a:avLst/>
          </a:prstGeom>
          <a:solidFill>
            <a:srgbClr val="5A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Merchant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91640"/>
            <a:ext cx="1783080" cy="502920"/>
          </a:xfrm>
          <a:prstGeom prst="roundRect">
            <a:avLst/>
          </a:prstGeom>
          <a:solidFill>
            <a:srgbClr val="5A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Support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1691640"/>
            <a:ext cx="1783080" cy="502920"/>
          </a:xfrm>
          <a:prstGeom prst="roundRect">
            <a:avLst/>
          </a:prstGeom>
          <a:solidFill>
            <a:srgbClr val="5A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04120" y="1691640"/>
            <a:ext cx="1783080" cy="502920"/>
          </a:xfrm>
          <a:prstGeom prst="roundRect">
            <a:avLst/>
          </a:prstGeom>
          <a:solidFill>
            <a:srgbClr val="5A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Super Admin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423160"/>
            <a:ext cx="2194560" cy="3657600"/>
          </a:xfrm>
          <a:prstGeom prst="roundRect">
            <a:avLst/>
          </a:prstGeom>
          <a:solidFill>
            <a:srgbClr val="F7F5F0"/>
          </a:solidFill>
          <a:ln w="12700">
            <a:solidFill>
              <a:srgbClr val="E0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251460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A6B3F"/>
                </a:solidFill>
                <a:latin typeface="Calibri"/>
              </a:rPr>
              <a:t>Catalog &amp; Try-On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926080"/>
            <a:ext cx="2011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•  Browse catalog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•  Filter category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•  Virtual try-on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•  Try-on history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•  Live vs Fallback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2423160"/>
            <a:ext cx="2194560" cy="3657600"/>
          </a:xfrm>
          <a:prstGeom prst="roundRect">
            <a:avLst/>
          </a:prstGeom>
          <a:solidFill>
            <a:srgbClr val="F7F5F0"/>
          </a:solidFill>
          <a:ln w="12700">
            <a:solidFill>
              <a:srgbClr val="E0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16352" y="251460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A6B3F"/>
                </a:solidFill>
                <a:latin typeface="Calibri"/>
              </a:rPr>
              <a:t>Commerce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926080"/>
            <a:ext cx="2011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•  Manage cart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•  Checkout (COD)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•  Track orders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•  Reviews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•  Addresses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4920" y="2423160"/>
            <a:ext cx="2194560" cy="3657600"/>
          </a:xfrm>
          <a:prstGeom prst="roundRect">
            <a:avLst/>
          </a:prstGeom>
          <a:solidFill>
            <a:srgbClr val="F7F5F0"/>
          </a:solidFill>
          <a:ln w="12700">
            <a:solidFill>
              <a:srgbClr val="E0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48072" y="251460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A6B3F"/>
                </a:solidFill>
                <a:latin typeface="Calibri"/>
              </a:rPr>
              <a:t>Account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2926080"/>
            <a:ext cx="2011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•  Register / Sign in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•  Google OAuth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•  Profile &amp; prefs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2423160"/>
            <a:ext cx="2194560" cy="3657600"/>
          </a:xfrm>
          <a:prstGeom prst="roundRect">
            <a:avLst/>
          </a:prstGeom>
          <a:solidFill>
            <a:srgbClr val="F7F5F0"/>
          </a:solidFill>
          <a:ln w="12700">
            <a:solidFill>
              <a:srgbClr val="E0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79792" y="251460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A6B3F"/>
                </a:solidFill>
                <a:latin typeface="Calibri"/>
              </a:rPr>
              <a:t>Merchant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2926080"/>
            <a:ext cx="2011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•  Manage products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•  Analytics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•  Store profile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38359" y="2423160"/>
            <a:ext cx="2194560" cy="3657600"/>
          </a:xfrm>
          <a:prstGeom prst="roundRect">
            <a:avLst/>
          </a:prstGeom>
          <a:solidFill>
            <a:srgbClr val="F7F5F0"/>
          </a:solidFill>
          <a:ln w="12700">
            <a:solidFill>
              <a:srgbClr val="E0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11511" y="251460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A6B3F"/>
                </a:solidFill>
                <a:latin typeface="Calibri"/>
              </a:rPr>
              <a:t>Admin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799" y="2926080"/>
            <a:ext cx="2011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•  Users &amp; roles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•  Merchants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•  Platform stats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•  System config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•  Assume role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510528"/>
            <a:ext cx="11155680" cy="15875"/>
          </a:xfrm>
          <a:prstGeom prst="rect">
            <a:avLst/>
          </a:prstGeom>
          <a:solidFill>
            <a:srgbClr val="E0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56539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TryMe — Sonargaon University Team Defense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Calibri"/>
              </a:rPr>
              <a:t>Speaker: Yuvraj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Dynamic State &amp;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Parallel control logic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Asynchronous image storage and database querying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91640"/>
            <a:ext cx="1874519" cy="4297680"/>
          </a:xfrm>
          <a:prstGeom prst="roundRect">
            <a:avLst/>
          </a:prstGeom>
          <a:solidFill>
            <a:srgbClr val="F7F5F0"/>
          </a:solidFill>
          <a:ln w="12700">
            <a:solidFill>
              <a:srgbClr val="E0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783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A6B3F"/>
                </a:solidFill>
                <a:latin typeface="Calibri"/>
              </a:rPr>
              <a:t>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2194560"/>
            <a:ext cx="1737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•  Browse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•  Try-on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•  Cart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•  Checkout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•  Track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691640"/>
            <a:ext cx="1874519" cy="4297680"/>
          </a:xfrm>
          <a:prstGeom prst="roundRect">
            <a:avLst/>
          </a:prstGeom>
          <a:solidFill>
            <a:srgbClr val="F7F5F0"/>
          </a:solidFill>
          <a:ln w="12700">
            <a:solidFill>
              <a:srgbClr val="E0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1783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A6B3F"/>
                </a:solidFill>
                <a:latin typeface="Calibri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04872" y="2194560"/>
            <a:ext cx="1737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•  Hooks/UI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•  TryOnModal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•  Badge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•  Forms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691640"/>
            <a:ext cx="1874519" cy="4297680"/>
          </a:xfrm>
          <a:prstGeom prst="roundRect">
            <a:avLst/>
          </a:prstGeom>
          <a:solidFill>
            <a:srgbClr val="F7F5F0"/>
          </a:solidFill>
          <a:ln w="12700">
            <a:solidFill>
              <a:srgbClr val="E0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783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A6B3F"/>
                </a:solidFill>
                <a:latin typeface="Calibri"/>
              </a:rPr>
              <a:t>Middleware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2" y="2194560"/>
            <a:ext cx="1737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•  Auth?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•  Permission?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691640"/>
            <a:ext cx="1874519" cy="4297680"/>
          </a:xfrm>
          <a:prstGeom prst="roundRect">
            <a:avLst/>
          </a:prstGeom>
          <a:solidFill>
            <a:srgbClr val="F7F5F0"/>
          </a:solidFill>
          <a:ln w="12700">
            <a:solidFill>
              <a:srgbClr val="E0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783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A6B3F"/>
                </a:solidFill>
                <a:latin typeface="Calibri"/>
              </a:rPr>
              <a:t>Route Handlers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2194560"/>
            <a:ext cx="1737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•  Products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•  Try-on+RL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•  Cart/COD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•  Orders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691640"/>
            <a:ext cx="1874519" cy="4297680"/>
          </a:xfrm>
          <a:prstGeom prst="roundRect">
            <a:avLst/>
          </a:prstGeom>
          <a:solidFill>
            <a:srgbClr val="F7F5F0"/>
          </a:solidFill>
          <a:ln w="12700">
            <a:solidFill>
              <a:srgbClr val="E0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783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A6B3F"/>
                </a:solidFill>
                <a:latin typeface="Calibri"/>
              </a:rPr>
              <a:t>Services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2194560"/>
            <a:ext cx="1737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•  Product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•  TryOn+CB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•  Cart/Order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95560" y="1691640"/>
            <a:ext cx="1874519" cy="4297680"/>
          </a:xfrm>
          <a:prstGeom prst="roundRect">
            <a:avLst/>
          </a:prstGeom>
          <a:solidFill>
            <a:srgbClr val="F7F5F0"/>
          </a:solidFill>
          <a:ln w="12700">
            <a:solidFill>
              <a:srgbClr val="E0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95560" y="1783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A6B3F"/>
                </a:solidFill>
                <a:latin typeface="Calibri"/>
              </a:rPr>
              <a:t>External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68712" y="2194560"/>
            <a:ext cx="1737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•  MongoDB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•  ImgBB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•  VTO SSE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•  Fallback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510528"/>
            <a:ext cx="11155680" cy="15875"/>
          </a:xfrm>
          <a:prstGeom prst="rect">
            <a:avLst/>
          </a:prstGeom>
          <a:solidFill>
            <a:srgbClr val="E0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56539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TryMe — Sonargaon University Team Defense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Calibri"/>
              </a:rPr>
              <a:t>Speaker: Yuvraj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Data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MongoDB (Mongoose) physical collections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Optimized relational references (User, Product, Order, TryOnHistory)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103120" cy="1920240"/>
          </a:xfrm>
          <a:prstGeom prst="roundRect">
            <a:avLst/>
          </a:prstGeom>
          <a:solidFill>
            <a:srgbClr val="F7F5F0"/>
          </a:solidFill>
          <a:ln w="12700">
            <a:solidFill>
              <a:srgbClr val="E0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74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A6B3F"/>
                </a:solidFill>
                <a:latin typeface="Calibri"/>
              </a:rPr>
              <a:t>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C5C5C"/>
                </a:solidFill>
                <a:latin typeface="Calibri"/>
              </a:rPr>
              <a:t>email, role,</a:t>
            </a:r>
          </a:p>
          <a:p>
            <a:r>
              <a:t>merchantId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737360"/>
            <a:ext cx="2103120" cy="1920240"/>
          </a:xfrm>
          <a:prstGeom prst="roundRect">
            <a:avLst/>
          </a:prstGeom>
          <a:solidFill>
            <a:srgbClr val="F7F5F0"/>
          </a:solidFill>
          <a:ln w="12700">
            <a:solidFill>
              <a:srgbClr val="E0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1874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A6B3F"/>
                </a:solidFill>
                <a:latin typeface="Calibri"/>
              </a:rPr>
              <a:t>Merchant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33172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C5C5C"/>
                </a:solidFill>
                <a:latin typeface="Calibri"/>
              </a:rPr>
              <a:t>name, ownerId,</a:t>
            </a:r>
          </a:p>
          <a:p>
            <a:r>
              <a:t>status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1737360"/>
            <a:ext cx="2103120" cy="1920240"/>
          </a:xfrm>
          <a:prstGeom prst="roundRect">
            <a:avLst/>
          </a:prstGeom>
          <a:solidFill>
            <a:srgbClr val="F7F5F0"/>
          </a:solidFill>
          <a:ln w="12700">
            <a:solidFill>
              <a:srgbClr val="E0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1874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A6B3F"/>
                </a:solidFill>
                <a:latin typeface="Calibri"/>
              </a:rPr>
              <a:t>Product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233172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C5C5C"/>
                </a:solidFill>
                <a:latin typeface="Calibri"/>
              </a:rPr>
              <a:t>price, imageUrl,</a:t>
            </a:r>
          </a:p>
          <a:p>
            <a:r>
              <a:t>merchantId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1737360"/>
            <a:ext cx="2103120" cy="1920240"/>
          </a:xfrm>
          <a:prstGeom prst="roundRect">
            <a:avLst/>
          </a:prstGeom>
          <a:solidFill>
            <a:srgbClr val="F7F5F0"/>
          </a:solidFill>
          <a:ln w="12700">
            <a:solidFill>
              <a:srgbClr val="E0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1874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A6B3F"/>
                </a:solidFill>
                <a:latin typeface="Calibri"/>
              </a:rPr>
              <a:t>Cart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233172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C5C5C"/>
                </a:solidFill>
                <a:latin typeface="Calibri"/>
              </a:rPr>
              <a:t>userId,</a:t>
            </a:r>
          </a:p>
          <a:p>
            <a:r>
              <a:t>items[]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46920" y="1737360"/>
            <a:ext cx="2103120" cy="1920240"/>
          </a:xfrm>
          <a:prstGeom prst="roundRect">
            <a:avLst/>
          </a:prstGeom>
          <a:solidFill>
            <a:srgbClr val="F7F5F0"/>
          </a:solidFill>
          <a:ln w="12700">
            <a:solidFill>
              <a:srgbClr val="E0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6920" y="1874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A6B3F"/>
                </a:solidFill>
                <a:latin typeface="Calibri"/>
              </a:rPr>
              <a:t>Order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233172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C5C5C"/>
                </a:solidFill>
                <a:latin typeface="Calibri"/>
              </a:rPr>
              <a:t>userId,</a:t>
            </a:r>
          </a:p>
          <a:p>
            <a:r>
              <a:t>status, total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886200"/>
            <a:ext cx="2103120" cy="1920240"/>
          </a:xfrm>
          <a:prstGeom prst="roundRect">
            <a:avLst/>
          </a:prstGeom>
          <a:solidFill>
            <a:srgbClr val="F7F5F0"/>
          </a:solidFill>
          <a:ln w="12700">
            <a:solidFill>
              <a:srgbClr val="E0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023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A6B3F"/>
                </a:solidFill>
                <a:latin typeface="Calibri"/>
              </a:rPr>
              <a:t>Address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48056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C5C5C"/>
                </a:solidFill>
                <a:latin typeface="Calibri"/>
              </a:rPr>
              <a:t>userId,</a:t>
            </a:r>
          </a:p>
          <a:p>
            <a:r>
              <a:t>street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88920" y="3886200"/>
            <a:ext cx="2103120" cy="1920240"/>
          </a:xfrm>
          <a:prstGeom prst="roundRect">
            <a:avLst/>
          </a:prstGeom>
          <a:solidFill>
            <a:srgbClr val="F7F5F0"/>
          </a:solidFill>
          <a:ln w="12700">
            <a:solidFill>
              <a:srgbClr val="E0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88920" y="4023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A6B3F"/>
                </a:solidFill>
                <a:latin typeface="Calibri"/>
              </a:rPr>
              <a:t>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448056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C5C5C"/>
                </a:solidFill>
                <a:latin typeface="Calibri"/>
              </a:rPr>
              <a:t>user+product</a:t>
            </a:r>
          </a:p>
          <a:p>
            <a:r>
              <a:t>+order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74920" y="3886200"/>
            <a:ext cx="2103120" cy="1920240"/>
          </a:xfrm>
          <a:prstGeom prst="roundRect">
            <a:avLst/>
          </a:prstGeom>
          <a:solidFill>
            <a:srgbClr val="F7F5F0"/>
          </a:solidFill>
          <a:ln w="12700">
            <a:solidFill>
              <a:srgbClr val="E0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4023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A6B3F"/>
                </a:solidFill>
                <a:latin typeface="Calibri"/>
              </a:rPr>
              <a:t>TryOnHistory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66360" y="448056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C5C5C"/>
                </a:solidFill>
                <a:latin typeface="Calibri"/>
              </a:rPr>
              <a:t>user, product,</a:t>
            </a:r>
          </a:p>
          <a:p>
            <a:r>
              <a:t>fromFallback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60920" y="3886200"/>
            <a:ext cx="2103120" cy="1920240"/>
          </a:xfrm>
          <a:prstGeom prst="roundRect">
            <a:avLst/>
          </a:prstGeom>
          <a:solidFill>
            <a:srgbClr val="F7F5F0"/>
          </a:solidFill>
          <a:ln w="12700">
            <a:solidFill>
              <a:srgbClr val="E0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60920" y="4023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A6B3F"/>
                </a:solidFill>
                <a:latin typeface="Calibri"/>
              </a:rPr>
              <a:t>SystemConfig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448056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C5C5C"/>
                </a:solidFill>
                <a:latin typeface="Calibri"/>
              </a:rPr>
              <a:t>guestTryOnLimit</a:t>
            </a:r>
          </a:p>
          <a:p>
            <a:r>
              <a:t>maintenance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510528"/>
            <a:ext cx="11155680" cy="15875"/>
          </a:xfrm>
          <a:prstGeom prst="rect">
            <a:avLst/>
          </a:prstGeom>
          <a:solidFill>
            <a:srgbClr val="E0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56539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TryMe — Sonargaon University Team Defense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Calibri"/>
              </a:rPr>
              <a:t>Speaker: Bijoy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Component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Unified Next.js 15 App Router (No standalone Express server)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Feature-based directory structure (Route Handlers → Services → Repositories)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783080"/>
            <a:ext cx="9418320" cy="914400"/>
          </a:xfrm>
          <a:prstGeom prst="roundRect">
            <a:avLst/>
          </a:prstGeom>
          <a:solidFill>
            <a:srgbClr val="F7F5F0"/>
          </a:solidFill>
          <a:ln w="12700">
            <a:solidFill>
              <a:srgbClr val="E0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892808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A6B3F"/>
                </a:solidFill>
                <a:latin typeface="Calibri"/>
              </a:rPr>
              <a:t>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92024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Pages · Features · Hooks</a:t>
            </a:r>
          </a:p>
          <a:p>
            <a:r>
              <a:t>Edge Middleware (JWT + RBAC)</a:t>
            </a:r>
          </a:p>
        </p:txBody>
      </p:sp>
      <p:sp>
        <p:nvSpPr>
          <p:cNvPr id="9" name="Down Arrow 8"/>
          <p:cNvSpPr/>
          <p:nvPr/>
        </p:nvSpPr>
        <p:spPr>
          <a:xfrm>
            <a:off x="5852160" y="2651760"/>
            <a:ext cx="256032" cy="320040"/>
          </a:xfrm>
          <a:prstGeom prst="downArrow">
            <a:avLst/>
          </a:prstGeom>
          <a:solidFill>
            <a:srgbClr val="5A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371600" y="2834639"/>
            <a:ext cx="9418320" cy="914400"/>
          </a:xfrm>
          <a:prstGeom prst="roundRect">
            <a:avLst/>
          </a:prstGeom>
          <a:solidFill>
            <a:srgbClr val="F7F5F0"/>
          </a:solidFill>
          <a:ln w="12700">
            <a:solidFill>
              <a:srgbClr val="E0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2944367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A6B3F"/>
                </a:solidFill>
                <a:latin typeface="Calibri"/>
              </a:rPr>
              <a:t>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971799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Route Handlers</a:t>
            </a:r>
          </a:p>
          <a:p>
            <a:r>
              <a:t>/api/try-on · cart · orders · …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852160" y="3703319"/>
            <a:ext cx="256032" cy="320040"/>
          </a:xfrm>
          <a:prstGeom prst="downArrow">
            <a:avLst/>
          </a:prstGeom>
          <a:solidFill>
            <a:srgbClr val="5A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371600" y="3886200"/>
            <a:ext cx="9418320" cy="914400"/>
          </a:xfrm>
          <a:prstGeom prst="roundRect">
            <a:avLst/>
          </a:prstGeom>
          <a:solidFill>
            <a:srgbClr val="F7F5F0"/>
          </a:solidFill>
          <a:ln w="12700">
            <a:solidFill>
              <a:srgbClr val="E0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3995928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A6B3F"/>
                </a:solidFill>
                <a:latin typeface="Calibri"/>
              </a:rPr>
              <a:t>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02336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Services → Repositories</a:t>
            </a:r>
          </a:p>
          <a:p>
            <a:r>
              <a:t>Circuit Breaker · VTO · ImgBB clients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852160" y="4754880"/>
            <a:ext cx="256032" cy="320040"/>
          </a:xfrm>
          <a:prstGeom prst="downArrow">
            <a:avLst/>
          </a:prstGeom>
          <a:solidFill>
            <a:srgbClr val="5A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371600" y="4937759"/>
            <a:ext cx="9418320" cy="914400"/>
          </a:xfrm>
          <a:prstGeom prst="roundRect">
            <a:avLst/>
          </a:prstGeom>
          <a:solidFill>
            <a:srgbClr val="F7F5F0"/>
          </a:solidFill>
          <a:ln w="12700">
            <a:solidFill>
              <a:srgbClr val="E0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5047487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A6B3F"/>
                </a:solidFill>
                <a:latin typeface="Calibri"/>
              </a:rPr>
              <a:t>External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5074919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MongoDB · ImgBB</a:t>
            </a:r>
          </a:p>
          <a:p>
            <a:r>
              <a:t>HF IDM-VTON · Google OAuth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510528"/>
            <a:ext cx="11155680" cy="15875"/>
          </a:xfrm>
          <a:prstGeom prst="rect">
            <a:avLst/>
          </a:prstGeom>
          <a:solidFill>
            <a:srgbClr val="E0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56539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TryMe — Sonargaon University Team Defense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Calibri"/>
              </a:rPr>
              <a:t>Speaker: Bijoy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Algorithmic Fault Tolerance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Mitigates third-party API network latency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300-second timeout trips circuit to serve local cache fallback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029200" cy="502920"/>
          </a:xfrm>
          <a:prstGeom prst="roundRect">
            <a:avLst/>
          </a:prstGeom>
          <a:solidFill>
            <a:srgbClr val="5A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Try-on request</a:t>
            </a:r>
          </a:p>
        </p:txBody>
      </p:sp>
      <p:sp>
        <p:nvSpPr>
          <p:cNvPr id="7" name="Down Arrow 6"/>
          <p:cNvSpPr/>
          <p:nvPr/>
        </p:nvSpPr>
        <p:spPr>
          <a:xfrm>
            <a:off x="3017520" y="2240280"/>
            <a:ext cx="256032" cy="320040"/>
          </a:xfrm>
          <a:prstGeom prst="downArrow">
            <a:avLst/>
          </a:prstGeom>
          <a:solidFill>
            <a:srgbClr val="5A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468880"/>
            <a:ext cx="5029200" cy="50292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Calibri"/>
              </a:rPr>
              <a:t>Upload image → ImgBB</a:t>
            </a:r>
          </a:p>
        </p:txBody>
      </p:sp>
      <p:sp>
        <p:nvSpPr>
          <p:cNvPr id="9" name="Down Arrow 8"/>
          <p:cNvSpPr/>
          <p:nvPr/>
        </p:nvSpPr>
        <p:spPr>
          <a:xfrm>
            <a:off x="3017520" y="2971800"/>
            <a:ext cx="256032" cy="320040"/>
          </a:xfrm>
          <a:prstGeom prst="downArrow">
            <a:avLst/>
          </a:prstGeom>
          <a:solidFill>
            <a:srgbClr val="5A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3200400"/>
            <a:ext cx="5029200" cy="50292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Calibri"/>
              </a:rPr>
              <a:t>Circuit Breaker execute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017520" y="3703320"/>
            <a:ext cx="256032" cy="320040"/>
          </a:xfrm>
          <a:prstGeom prst="downArrow">
            <a:avLst/>
          </a:prstGeom>
          <a:solidFill>
            <a:srgbClr val="5A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931920"/>
            <a:ext cx="5029200" cy="502920"/>
          </a:xfrm>
          <a:prstGeom prst="roundRect">
            <a:avLst/>
          </a:prstGeom>
          <a:solidFill>
            <a:srgbClr val="5A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Race VTO SSE vs 300s timer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617720"/>
            <a:ext cx="2468880" cy="1280160"/>
          </a:xfrm>
          <a:prstGeom prst="roundRect">
            <a:avLst/>
          </a:prstGeom>
          <a:solidFill>
            <a:srgbClr val="F7F5F0"/>
          </a:solidFill>
          <a:ln w="12700">
            <a:solidFill>
              <a:srgbClr val="E0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75488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Success</a:t>
            </a:r>
          </a:p>
          <a:p>
            <a:r>
              <a:t>fromFallback: false</a:t>
            </a:r>
          </a:p>
          <a:p>
            <a:r>
              <a:t>Live composite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4617720"/>
            <a:ext cx="2468880" cy="1280160"/>
          </a:xfrm>
          <a:prstGeom prst="roundRect">
            <a:avLst/>
          </a:prstGeom>
          <a:solidFill>
            <a:srgbClr val="F7F5F0"/>
          </a:solidFill>
          <a:ln w="12700">
            <a:solidFill>
              <a:srgbClr val="E0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475488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Timeout / error</a:t>
            </a:r>
          </a:p>
          <a:p>
            <a:r>
              <a:t>fromFallback: true</a:t>
            </a:r>
          </a:p>
          <a:p>
            <a:r>
              <a:t>fallback-vto-result.jpg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691640"/>
            <a:ext cx="5394960" cy="4297680"/>
          </a:xfrm>
          <a:prstGeom prst="roundRect">
            <a:avLst/>
          </a:prstGeom>
          <a:solidFill>
            <a:srgbClr val="F7F5F0"/>
          </a:solidFill>
          <a:ln w="12700">
            <a:solidFill>
              <a:srgbClr val="E0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2024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A1A1A"/>
                </a:solidFill>
                <a:latin typeface="Consolas"/>
              </a:rPr>
              <a:t>execute(operation):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1A1A"/>
                </a:solidFill>
                <a:latin typeface="Consolas"/>
              </a:rPr>
              <a:t>  try: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1A1A"/>
                </a:solidFill>
                <a:latin typeface="Consolas"/>
              </a:rPr>
              <a:t>    result = race(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1A1A"/>
                </a:solidFill>
                <a:latin typeface="Consolas"/>
              </a:rPr>
              <a:t>      operation(),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1A1A"/>
                </a:solidFill>
                <a:latin typeface="Consolas"/>
              </a:rPr>
              <a:t>      timeout(300_000 ms)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1A1A"/>
                </a:solidFill>
                <a:latin typeface="Consolas"/>
              </a:rPr>
              <a:t>    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1A1A"/>
                </a:solidFill>
                <a:latin typeface="Consolas"/>
              </a:rPr>
              <a:t>    return { data: result,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1A1A"/>
                </a:solidFill>
                <a:latin typeface="Consolas"/>
              </a:rPr>
              <a:t>             fromFallback: false }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1A1A"/>
                </a:solidFill>
                <a:latin typeface="Consolas"/>
              </a:rPr>
              <a:t>  catch: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1A1A"/>
                </a:solidFill>
                <a:latin typeface="Consolas"/>
              </a:rPr>
              <a:t>    fallback = read(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1A1A"/>
                </a:solidFill>
                <a:latin typeface="Consolas"/>
              </a:rPr>
              <a:t>      "cache/fallback-vto-result.jpg")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1A1A"/>
                </a:solidFill>
                <a:latin typeface="Consolas"/>
              </a:rPr>
              <a:t>    return { data: fallback,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1A1A"/>
                </a:solidFill>
                <a:latin typeface="Consolas"/>
              </a:rPr>
              <a:t>             fromFallback: true 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510528"/>
            <a:ext cx="11155680" cy="15875"/>
          </a:xfrm>
          <a:prstGeom prst="rect">
            <a:avLst/>
          </a:prstGeom>
          <a:solidFill>
            <a:srgbClr val="E0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56539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TryMe — Sonargaon University Team Defense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Calibri"/>
              </a:rPr>
              <a:t>Speaker: Bijoy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Critical Security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3611880" cy="4389120"/>
          </a:xfrm>
          <a:prstGeom prst="roundRect">
            <a:avLst/>
          </a:prstGeom>
          <a:solidFill>
            <a:srgbClr val="F7F5F0"/>
          </a:solidFill>
          <a:ln w="12700">
            <a:solidFill>
              <a:srgbClr val="E0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37360" y="1737360"/>
            <a:ext cx="1143000" cy="1143000"/>
          </a:xfrm>
          <a:prstGeom prst="ellipse">
            <a:avLst/>
          </a:prstGeom>
          <a:solidFill>
            <a:srgbClr val="5A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10896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1A1A"/>
                </a:solidFill>
                <a:latin typeface="Calibri"/>
              </a:rPr>
              <a:t>API Vulnerabilities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3154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C5C5C"/>
                </a:solidFill>
                <a:latin typeface="Calibri"/>
              </a:rPr>
              <a:t>Shared compute space risks (e.g., prompt / input injection on third-party inference hosts)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611880" cy="4389120"/>
          </a:xfrm>
          <a:prstGeom prst="roundRect">
            <a:avLst/>
          </a:prstGeom>
          <a:solidFill>
            <a:srgbClr val="F7F5F0"/>
          </a:solidFill>
          <a:ln w="12700">
            <a:solidFill>
              <a:srgbClr val="E0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77840" y="1737360"/>
            <a:ext cx="1143000" cy="1143000"/>
          </a:xfrm>
          <a:prstGeom prst="ellipse">
            <a:avLst/>
          </a:prstGeom>
          <a:solidFill>
            <a:srgbClr val="5A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310896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1A1A"/>
                </a:solidFill>
                <a:latin typeface="Calibri"/>
              </a:rPr>
              <a:t>Storage Instability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840480"/>
            <a:ext cx="3154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C5C5C"/>
                </a:solidFill>
                <a:latin typeface="Calibri"/>
              </a:rPr>
              <a:t>ImgBB latency spikes and public-URL hosting dependency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371600"/>
            <a:ext cx="3611880" cy="4389120"/>
          </a:xfrm>
          <a:prstGeom prst="roundRect">
            <a:avLst/>
          </a:prstGeom>
          <a:solidFill>
            <a:srgbClr val="F7F5F0"/>
          </a:solidFill>
          <a:ln w="12700">
            <a:solidFill>
              <a:srgbClr val="E0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18320" y="1737360"/>
            <a:ext cx="1143000" cy="1143000"/>
          </a:xfrm>
          <a:prstGeom prst="ellipse">
            <a:avLst/>
          </a:prstGeom>
          <a:solidFill>
            <a:srgbClr val="5A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310896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1A1A"/>
                </a:solidFill>
                <a:latin typeface="Calibri"/>
              </a:rPr>
              <a:t>Data Compliance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840480"/>
            <a:ext cx="3154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C5C5C"/>
                </a:solidFill>
                <a:latin typeface="Calibri"/>
              </a:rPr>
              <a:t>Third-party transmission of personal photos (user reference images leave the app boundary)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10528"/>
            <a:ext cx="11155680" cy="15875"/>
          </a:xfrm>
          <a:prstGeom prst="rect">
            <a:avLst/>
          </a:prstGeom>
          <a:solidFill>
            <a:srgbClr val="E0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56539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TryMe — Sonargaon University Team Defense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Calibri"/>
              </a:rPr>
              <a:t>Speaker: Bijoy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Future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97280"/>
            <a:ext cx="5212080" cy="3017520"/>
          </a:xfrm>
          <a:prstGeom prst="roundRect">
            <a:avLst/>
          </a:prstGeom>
          <a:solidFill>
            <a:srgbClr val="F7F5F0"/>
          </a:solidFill>
          <a:ln w="12700">
            <a:solidFill>
              <a:srgbClr val="E0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46520" y="1097280"/>
            <a:ext cx="5212080" cy="3017520"/>
          </a:xfrm>
          <a:prstGeom prst="roundRect">
            <a:avLst/>
          </a:prstGeom>
          <a:solidFill>
            <a:srgbClr val="F7F5F0"/>
          </a:solidFill>
          <a:ln w="12700">
            <a:solidFill>
              <a:srgbClr val="E0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A6B3F"/>
                </a:solidFill>
                <a:latin typeface="Calibri"/>
              </a:rPr>
              <a:t>Current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2344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A6B3F"/>
                </a:solidFill>
                <a:latin typeface="Calibri"/>
              </a:rPr>
              <a:t>Production Evolution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3736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Next.js 15 App Router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MongoDB + Mongoose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ImgBB public URLs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HF Space IDM-VTON (SSE)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Circuit Breaker + fallback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173736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Postgres + RLS (e.g. Supabase)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Private buckets / signed URLs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Self-hosted VTO on GPU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Retain Circuit Breaker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Stripe + CI/E2E + CDN + metrics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06440" y="2377440"/>
            <a:ext cx="411480" cy="256032"/>
          </a:xfrm>
          <a:prstGeom prst="rightArrow">
            <a:avLst/>
          </a:prstGeom>
          <a:solidFill>
            <a:srgbClr val="5A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29768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•  Infrastructure sovereignty for production retail VTO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•  Supabase (Postgres + RLS + private buckets) replacing MongoDB / public-ImgBB coupling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•  Self-hosted open-source VTO on dedicated GPU clusters replacing free Hugging Face Spaces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•  Near-term productization: Stripe (or regional gateway), CI/E2E, CDN caching, VTO latency observability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510528"/>
            <a:ext cx="11155680" cy="15875"/>
          </a:xfrm>
          <a:prstGeom prst="rect">
            <a:avLst/>
          </a:prstGeom>
          <a:solidFill>
            <a:srgbClr val="E0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6539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TryMe — Sonargaon University Team Defense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